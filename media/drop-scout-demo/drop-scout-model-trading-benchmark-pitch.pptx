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2504edce74cff" /><Relationship Type="http://schemas.openxmlformats.org/officeDocument/2006/relationships/extended-properties" Target="/docProps/app.xml" Id="R6d4e791d00d94592" /><Relationship Type="http://schemas.openxmlformats.org/officeDocument/2006/relationships/officeDocument" Target="/ppt/presentation.xml" Id="Rc86302ffe8d343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ef6fa6b4e74e25"/>
  </p:sldMasterIdLst>
  <p:notesMasterIdLst>
    <p:notesMasterId xmlns:r="http://schemas.openxmlformats.org/officeDocument/2006/relationships" r:id="R26e10ef16dea42b6"/>
  </p:notesMasterIdLst>
  <p:sldIdLst>
    <p:sldId xmlns:r="http://schemas.openxmlformats.org/officeDocument/2006/relationships" id="256" r:id="R1c46407343eb4404"/>
    <p:sldId xmlns:r="http://schemas.openxmlformats.org/officeDocument/2006/relationships" id="257" r:id="R8a186d562b054b09"/>
    <p:sldId xmlns:r="http://schemas.openxmlformats.org/officeDocument/2006/relationships" id="258" r:id="R44c683e507794e3c"/>
    <p:sldId xmlns:r="http://schemas.openxmlformats.org/officeDocument/2006/relationships" id="259" r:id="R0d7a744ab6eb465f"/>
    <p:sldId xmlns:r="http://schemas.openxmlformats.org/officeDocument/2006/relationships" id="260" r:id="R8ea3b93896ff44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f6fa6b4e74e25" /><Relationship Type="http://schemas.openxmlformats.org/officeDocument/2006/relationships/theme" Target="/ppt/theme/theme1.xml" Id="Ra53de4591bdc4799" /><Relationship Type="http://schemas.openxmlformats.org/officeDocument/2006/relationships/notesMaster" Target="/ppt/notesMasters/notesMaster1.xml" Id="R26e10ef16dea42b6" /><Relationship Type="http://schemas.openxmlformats.org/officeDocument/2006/relationships/presProps" Target="/ppt/presProps.xml" Id="Raf4be6f1a6f547b1" /><Relationship Type="http://schemas.openxmlformats.org/officeDocument/2006/relationships/viewProps" Target="/ppt/viewProps.xml" Id="R3cd38d176faa49b5" /><Relationship Type="http://schemas.openxmlformats.org/officeDocument/2006/relationships/tableStyles" Target="/ppt/tableStyles.xml" Id="R74699ea176964054" /><Relationship Type="http://schemas.openxmlformats.org/officeDocument/2006/relationships/slide" Target="/ppt/slides/slide1.xml" Id="R1c46407343eb4404" /><Relationship Type="http://schemas.openxmlformats.org/officeDocument/2006/relationships/slide" Target="/ppt/slides/slide2.xml" Id="R8a186d562b054b09" /><Relationship Type="http://schemas.openxmlformats.org/officeDocument/2006/relationships/slide" Target="/ppt/slides/slide3.xml" Id="R44c683e507794e3c" /><Relationship Type="http://schemas.openxmlformats.org/officeDocument/2006/relationships/slide" Target="/ppt/slides/slide4.xml" Id="R0d7a744ab6eb465f" /><Relationship Type="http://schemas.openxmlformats.org/officeDocument/2006/relationships/slide" Target="/ppt/slides/slide5.xml" Id="R8ea3b93896ff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636c43330ba43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67c8f9bf04c79" /><Relationship Type="http://schemas.openxmlformats.org/officeDocument/2006/relationships/notesMaster" Target="/ppt/notesMasters/notesMaster1.xml" Id="R2dfb66d63f334b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0c9c5fa3344f4" /><Relationship Type="http://schemas.openxmlformats.org/officeDocument/2006/relationships/notesMaster" Target="/ppt/notesMasters/notesMaster1.xml" Id="R2c12a014897d4c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fab7bdafb43dd" /><Relationship Type="http://schemas.openxmlformats.org/officeDocument/2006/relationships/notesMaster" Target="/ppt/notesMasters/notesMaster1.xml" Id="R9850b4eeac854f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b5a397282f4a78" /><Relationship Type="http://schemas.openxmlformats.org/officeDocument/2006/relationships/notesMaster" Target="/ppt/notesMasters/notesMaster1.xml" Id="Rac89d85fc1724f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d5b185d22040ca" /><Relationship Type="http://schemas.openxmlformats.org/officeDocument/2006/relationships/notesMaster" Target="/ppt/notesMasters/notesMaster1.xml" Id="R73c1a8e25fdb49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8558f4059494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e19ca52b3b4063" /><Relationship Type="http://schemas.openxmlformats.org/officeDocument/2006/relationships/slideLayout" Target="/ppt/slideLayouts/slideLayout2.xml" Id="R511df694db3d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df694db3d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3c44f0695d4cca" /><Relationship Type="http://schemas.openxmlformats.org/officeDocument/2006/relationships/notesSlide" Target="/ppt/notesSlides/notesSlide1.xml" Id="R2245e29ce47841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4f52913ba94ceb" /><Relationship Type="http://schemas.openxmlformats.org/officeDocument/2006/relationships/notesSlide" Target="/ppt/notesSlides/notesSlide2.xml" Id="R974358b7f6894a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b55cd09a864aa9" /><Relationship Type="http://schemas.openxmlformats.org/officeDocument/2006/relationships/notesSlide" Target="/ppt/notesSlides/notesSlide3.xml" Id="R93a7cd5e49e942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e08af66d0d4f79" /><Relationship Type="http://schemas.openxmlformats.org/officeDocument/2006/relationships/notesSlide" Target="/ppt/notesSlides/notesSlide4.xml" Id="Rb465c585e75f4d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5ac91989224870" /><Relationship Type="http://schemas.openxmlformats.org/officeDocument/2006/relationships/notesSlide" Target="/ppt/notesSlides/notesSlide5.xml" Id="R82422fbdb2f24e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DF4029-D497-459A-9BA7-C66CD785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60674-0ACF-4717-B2C1-82ADAAF6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BB811-805F-4C9D-BF25-B6D97598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BE902-7D16-4477-A302-C1E7856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W H 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66D02-FAD1-46C9-8B37-B46399B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AI trading needs benchmarks, not confident demos.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078F9-043E-48E4-95E8-A2BCE809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In the era of AI, models can sound decisive even when evidence is weak. A benchmark turns the claim into a measurable trading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5A755-48C1-4DB3-95CA-3744D76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E286E-317F-4A1E-B250-5E4D822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975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Question for the audience: can the model beat the market baseline without cheating?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AC805-ADC9-4471-8ED0-A473AEB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9BA48-AEE3-45F3-BBB5-8E102AB2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553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01841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AF644-4BCA-4C63-B5D8-3822F4F8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348C-E1EC-4913-B02C-6C31E1F1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07449-70C5-40A8-855E-57BFFFD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8E78E-21BE-4494-9542-B55C1303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W H A T   W E   B U I L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AA623-4D92-4706-A4D7-9DCA89C4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DropScout is a paper-trading exam for AI agents.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D0F5B-392D-48BC-BBD1-6D17D5EC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The system takes CS2 market data, creates baselines, asks the model for a decision, simulates the trade, then reports the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424D4-34CA-4C49-B8E1-79CE550B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994C8-FB52-41D3-8195-3C6B28E0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84FCA-7121-4F9D-9884-C53D5F06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43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2D758-66B4-4DF5-A733-88A10D43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05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D5FA6-241E-4794-8AA9-8D276958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23862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0FD89-CF29-44CF-900A-74AD7D92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343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24A94-8A0C-449F-996B-F90E368C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9C4C8-D556-4C2A-BDD3-39FBF8B9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3862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3CEB6-5B6A-4834-A2D9-8B86DB60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43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11FE1-93F9-41D9-B888-B6D21872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05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543BE-56E2-40B7-9DA0-6FA6C185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3862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34110-5E0F-466F-A60D-37E81999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43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49030-9222-4B59-BA4A-ACBD1C26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4DB73-8A72-4A72-81F4-4CE21C73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simulate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BF7F0-BA5E-4D60-BC23-7BB4BDD5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434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613B0-C576-4BFE-8B58-178EE42F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052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FDAA4F-A999-4D4B-B0CB-159F70AC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23862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E7159-D7D8-4503-9B89-8B23A7D2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4E0EE-8BAB-4981-BC2A-F6C6D463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975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Same evidence in. Model decision out. Simulated portfolio value scored.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E572D-8CFF-4D67-9619-965BE76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E1605A-3DBC-4B1B-A5B3-EB0D8C25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553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71281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BB9FC-78B8-48A0-BFA7-479F4DE1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5A922-6747-4D30-8731-289C8F2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16EEA-7FEB-4B9D-82A5-06B4F559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F18F9-6E75-4977-95AB-70FC1427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B E N C H M A R 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D482-45B6-478D-8398-BA046DEC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First we build the market yardstick.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34D6A-A730-451D-9D5F-78FC5C5A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The baseline shows what timing opportunity existed before any model gets credit. Hindsight is labeled as a ceiling, not a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C0416-33EB-496C-8396-F196362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6AB85-6708-4A97-894C-7FF058E0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EF3DF-C003-40C7-B096-1C101629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CS2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77F60-6BC6-4B7F-8C4D-52CD43A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57625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1FBD0-AF50-4B8A-B573-605A0C29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5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AC8F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5AC8FA"/>
                </a:solidFill>
                <a:latin typeface="Avenir Next"/>
                <a:ea typeface="Avenir Next"/>
                <a:cs typeface="Avenir Next"/>
              </a:rPr>
              <a:t>180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EFBD7-8EEA-4AEA-898B-76B0FA1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0057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daily candles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72544-87DA-4E77-B4C9-813FF3BB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57625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52067-B207-4286-919F-07CC9950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86225"/>
            <a:ext cx="1962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B34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5B342"/>
                </a:solidFill>
                <a:latin typeface="Avenir Next"/>
                <a:ea typeface="Avenir Next"/>
                <a:cs typeface="Avenir Next"/>
              </a:rPr>
              <a:t>66.7%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847EA-63D2-40D4-8E1D-D77A210D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00575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largest timing ceiling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2BECE-37AD-46F3-8A0D-C39CAF4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3DE67-D8FF-4DAA-8B71-78C6BEB3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86225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10.6M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73DBF-4C44-4EFC-A946-3DD18D8B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0057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highest volume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8A372-0D9F-4935-82D0-03CA3F10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AAE7A-FDB0-4C90-B9EC-F2F8C2AB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975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A model score means nothing until the baseline is explicit.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BB05F-15A9-4E47-A278-FFA50477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7B05F-029F-482B-BAC7-E192718F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553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12996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9588F-EB3C-4023-B251-486BCB6B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3F54E-8352-4021-9E36-74AFF480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F0C34-873C-4CFD-8F8B-EDC80321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D8E3D-25A9-407E-A12F-8E9E13BE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M O D E L   T E S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6BD9B-D72E-429A-B177-1A5AAD3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Then the model trades with past-only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C10AF-7134-4D04-BAD7-F1167E34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The harness converts model output into a simulated trade and portfolio value. If evidence is blocked, the right behavior is to refuse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10AA-523A-4512-B17F-B28E293A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0A3B0-780E-4FA4-B34A-7AE3BF6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C8F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AC8FA"/>
                </a:solidFill>
                <a:latin typeface="Avenir Next"/>
                <a:ea typeface="Avenir Next"/>
                <a:cs typeface="Avenir Next"/>
              </a:rPr>
              <a:t>gemini-2.5-flash-lite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379D2-F491-4E27-A727-71CF8B4C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model under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87B17-7F50-43CC-8B8D-0429D8A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57625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545B2-9BA6-472F-8D5A-4920BDF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86225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1/6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4175D-F32E-4A5A-9514-BCE0E2CA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0057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complete items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6DEB9-DA75-4DB8-BBEA-E5A7A18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57625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FACFE-71BC-4A4B-BB7E-3804C78D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86225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B34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5B342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11DB3-EBB7-4EAE-B812-188158D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0057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missing-data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7A222-11C0-4511-B3C8-B5106EB1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B09ED-C445-4842-86B9-7EE3D0C2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86225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B34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F5B342"/>
                </a:solidFill>
                <a:latin typeface="Avenir Next"/>
                <a:ea typeface="Avenir Next"/>
                <a:cs typeface="Avenir Next"/>
              </a:rPr>
              <a:t>skip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71FA3-317C-4BBC-B958-43EBE3E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0057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3B485-1943-49E4-A1AB-A991B213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57625"/>
            <a:ext cx="1619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74CC8-119C-4465-8723-D426EA6F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8622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$5.00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A1E0F-F2F0-4C62-A5D1-BF3920E4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00575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final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A7CED-EB6C-41A3-B3E8-6205156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DA8CD-547E-4F5B-A38D-E75745A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975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Current run shows the harness and evidence-gated skip behavior, not live trading.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8C6CE-147D-4EBA-B45B-C3EDF69D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F510B-2A44-4EE2-91E5-98C21B74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553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36357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7D5585-44A0-481D-B3EF-CCA16D4D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5E871-28BD-4355-A61D-5CB2078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59499-E8B6-4C20-80DE-E8A27297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69F2B-3BB3-4D0A-B9CD-79A6E39A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T A K E A W A 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6006A-297F-4287-8911-80E52651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What we built: the scoring layer for AI trading agents.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F78A8-FFCB-44F7-AD41-68099D47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DropScout gives the audience a clean way to see whether an agent actually makes better trades: same data, clear baseline, simulated P and L, visible blockers.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4FFBB-CA94-4236-83FC-7EED5C1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395DB-1F5A-45C4-AED1-814FF51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Why needed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0F160-62E7-4F49-9104-E9577838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AI recommendations are cheap; measured trading performance is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6C2AD-0526-4D4D-BF50-C7554782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0C687-8102-463F-8DD8-451E9F8C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What to show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99F21-2ADB-40F9-AF9C-587E991B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Local benchmark run, model score, and simple visualization.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DC4A3-C1AE-4A6D-87A7-FCF8F20B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5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AB5E5-E674-408F-BC47-E1F4EF8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What comes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1CEAB-E57F-4482-9E2F-C731BE9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BFF"/>
                </a:solidFill>
                <a:latin typeface="Avenir Next"/>
                <a:ea typeface="Avenir Next"/>
                <a:cs typeface="Avenir Next"/>
              </a:rPr>
              <a:t>Compare multiple models on the same evidence window.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FBF49-FA78-4403-8085-8EA10195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9525">
            <a:solidFill>
              <a:srgbClr val="2632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AC14B-B39A-427B-8707-7FBCF935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975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2D583"/>
                </a:solidFill>
                <a:latin typeface="Avenir Next"/>
                <a:ea typeface="Avenir Next"/>
                <a:cs typeface="Avenir Next"/>
              </a:rPr>
              <a:t>Benchmark the market. Run the model. Score the trade. Show the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5990-46DE-411A-91F3-D26F67F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C7465-0824-451B-8AC9-169330F2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553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AADB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584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2026-05-19T14:14:17.3130000Z</dcterms:created>
  <dcterms:modified xsi:type="dcterms:W3CDTF">2026-05-19T14:14:17.3130000Z</dcterms:modified>
</coreProperties>
</file>